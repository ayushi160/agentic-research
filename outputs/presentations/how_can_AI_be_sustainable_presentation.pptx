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defRPr sz="4000" b="1">
                <a:solidFill>
                  <a:srgbClr val="E94560"/>
                </a:solidFill>
              </a:defRPr>
            </a:pPr>
            <a:r>
              <a:t>HOW CAN AI BE SUSTAINABLE</a:t>
            </a:r>
          </a:p>
        </p:txBody>
      </p:sp>
      <p:sp>
        <p:nvSpPr>
          <p:cNvPr id="3" name="TextBox 2"/>
          <p:cNvSpPr txBox="1"/>
          <p:nvPr/>
        </p:nvSpPr>
        <p:spPr>
          <a:xfrm>
            <a:off x="914400" y="3657600"/>
            <a:ext cx="10058400" cy="914400"/>
          </a:xfrm>
          <a:prstGeom prst="rect">
            <a:avLst/>
          </a:prstGeom>
          <a:noFill/>
        </p:spPr>
        <p:txBody>
          <a:bodyPr wrap="square">
            <a:spAutoFit/>
          </a:bodyPr>
          <a:lstStyle/>
          <a:p>
            <a:pPr>
              <a:defRPr sz="2000" b="0">
                <a:solidFill>
                  <a:srgbClr val="FFFFFF"/>
                </a:solidFill>
              </a:defRPr>
            </a:pPr>
            <a:r>
              <a:t>AI-Powered Deep Research Report</a:t>
            </a:r>
          </a:p>
        </p:txBody>
      </p:sp>
      <p:sp>
        <p:nvSpPr>
          <p:cNvPr id="4" name="TextBox 3"/>
          <p:cNvSpPr txBox="1"/>
          <p:nvPr/>
        </p:nvSpPr>
        <p:spPr>
          <a:xfrm>
            <a:off x="914400" y="4572000"/>
            <a:ext cx="10058400" cy="731520"/>
          </a:xfrm>
          <a:prstGeom prst="rect">
            <a:avLst/>
          </a:prstGeom>
          <a:noFill/>
        </p:spPr>
        <p:txBody>
          <a:bodyPr wrap="square">
            <a:spAutoFit/>
          </a:bodyPr>
          <a:lstStyle/>
          <a:p>
            <a:pPr>
              <a:defRPr sz="1400" b="0">
                <a:solidFill>
                  <a:srgbClr val="AAAAAA"/>
                </a:solidFill>
              </a:defRPr>
            </a:pPr>
            <a:r>
              <a:t>Generated by Multi-Agent System: GPT + Gemini + Grok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3460"/>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RESEARCH REPORT: HOW CAN AI BE SUSTAINABLE</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Generated: 2026-03-31 02:45:31</a:t>
            </a:r>
            <a:br/>
            <a:r>
              <a:t>Sources: GPT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**Sustainable Artificial 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Introduction</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As artificial intelligence (AI) continues to transform industries and improve lives, concerns about its environmental impact are growing. The development and deployment of AI require significant computational resources, which in turn consume energy and generate e-waste. To ensure a sustainable future, it is essential to explore ways to make AI more environmentally friendly.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Data Centers: The Elephant in the Room</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 Data centers, where most AI processing takes place, account for approximately 2% of global energy consumption.</a:t>
            </a:r>
            <a:br/>
            <a:r>
              <a:t>* In the United States alone, data centers consume around 34 billion kilowatt-hours (kWh) annually, equivalent to the energy used by over 2.5 million homes.</a:t>
            </a:r>
            <a:br/>
            <a:r>
              <a:t>* The carbon footprint of data centers is significant, with an estimated 82 million metric tons of CO2 emissions per year.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3460"/>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Green Data Centers</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 To mitigate these effects, green data centers are being designed and built, utilizing renewable energy sources (e.g., solar, wind) and energy-efficient technologies.</a:t>
            </a:r>
            <a:br/>
            <a:r>
              <a:t>* Examples include Google's Project Sunroof, which uses solar panels to power data centers, and Microsoft's Project Empower, which aims to reduce energy consumption in data centers by 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E"/>
        </a:solidFill>
        <a:effectLst/>
      </p:bgPr>
    </p:bg>
    <p:spTree>
      <p:nvGrpSpPr>
        <p:cNvPr id="1" name=""/>
        <p:cNvGrpSpPr/>
        <p:nvPr/>
      </p:nvGrpSpPr>
      <p:grpSpPr/>
      <p:sp>
        <p:nvSpPr>
          <p:cNvPr id="2" name="TextBox 1"/>
          <p:cNvSpPr txBox="1"/>
          <p:nvPr/>
        </p:nvSpPr>
        <p:spPr>
          <a:xfrm>
            <a:off x="457200" y="365760"/>
            <a:ext cx="10972800" cy="914400"/>
          </a:xfrm>
          <a:prstGeom prst="rect">
            <a:avLst/>
          </a:prstGeom>
          <a:noFill/>
        </p:spPr>
        <p:txBody>
          <a:bodyPr wrap="square">
            <a:spAutoFit/>
          </a:bodyPr>
          <a:lstStyle/>
          <a:p>
            <a:pPr>
              <a:defRPr sz="2400" b="1">
                <a:solidFill>
                  <a:srgbClr val="E94560"/>
                </a:solidFill>
              </a:defRPr>
            </a:pPr>
            <a:r>
              <a:t>Emissions from AI Training and Inference</a:t>
            </a:r>
          </a:p>
        </p:txBody>
      </p:sp>
      <p:sp>
        <p:nvSpPr>
          <p:cNvPr id="3" name="TextBox 2"/>
          <p:cNvSpPr txBox="1"/>
          <p:nvPr/>
        </p:nvSpPr>
        <p:spPr>
          <a:xfrm>
            <a:off x="457200" y="1371600"/>
            <a:ext cx="10972800" cy="5029200"/>
          </a:xfrm>
          <a:prstGeom prst="rect">
            <a:avLst/>
          </a:prstGeom>
          <a:noFill/>
        </p:spPr>
        <p:txBody>
          <a:bodyPr wrap="square">
            <a:spAutoFit/>
          </a:bodyPr>
          <a:lstStyle/>
          <a:p>
            <a:pPr>
              <a:defRPr sz="1400" b="0">
                <a:solidFill>
                  <a:srgbClr val="DDDDDD"/>
                </a:solidFill>
              </a:defRPr>
            </a:pPr>
            <a:r>
              <a:t>* The training process for AI models can be particularly energy-intensive, with some estimates suggesting it may account for up to 70% of the total carbon footprint.</a:t>
            </a:r>
            <a:br/>
            <a:r>
              <a:t>* Inference (model deployment) also contributes to emissions, although to a lesser extent.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914400"/>
            <a:ext cx="10058400" cy="914400"/>
          </a:xfrm>
          <a:prstGeom prst="rect">
            <a:avLst/>
          </a:prstGeom>
          <a:noFill/>
        </p:spPr>
        <p:txBody>
          <a:bodyPr wrap="square">
            <a:spAutoFit/>
          </a:bodyPr>
          <a:lstStyle/>
          <a:p>
            <a:pPr>
              <a:defRPr sz="2800" b="1">
                <a:solidFill>
                  <a:srgbClr val="E94560"/>
                </a:solidFill>
              </a:defRPr>
            </a:pPr>
            <a:r>
              <a:t>Research Sources</a:t>
            </a:r>
          </a:p>
        </p:txBody>
      </p:sp>
      <p:sp>
        <p:nvSpPr>
          <p:cNvPr id="3" name="TextBox 2"/>
          <p:cNvSpPr txBox="1"/>
          <p:nvPr/>
        </p:nvSpPr>
        <p:spPr>
          <a:xfrm>
            <a:off x="914400" y="2286000"/>
            <a:ext cx="10058400" cy="3657600"/>
          </a:xfrm>
          <a:prstGeom prst="rect">
            <a:avLst/>
          </a:prstGeom>
          <a:noFill/>
        </p:spPr>
        <p:txBody>
          <a:bodyPr wrap="square">
            <a:spAutoFit/>
          </a:bodyPr>
          <a:lstStyle/>
          <a:p>
            <a:pPr>
              <a:defRPr sz="1600" b="0">
                <a:solidFill>
                  <a:srgbClr val="FFFFFF"/>
                </a:solidFill>
              </a:defRPr>
            </a:pPr>
            <a:r>
              <a:t>• GPT-4o (OpenAI)</a:t>
            </a:r>
            <a:br/>
            <a:r>
              <a:t>• Gemini 1.5 Flash (Google)</a:t>
            </a:r>
            <a:br/>
            <a:r>
              <a:t>• Grok Beta (xAI)</a:t>
            </a:r>
            <a:br/>
            <a:br/>
            <a:r>
              <a:t>Research compiled and merged by automated multi-agent orchestrator.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